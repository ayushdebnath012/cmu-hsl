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5894" cy="6858000"/>
          </a:xfrm>
          <a:prstGeom prst="rect">
            <a:avLst/>
          </a:prstGeom>
          <a:solidFill>
            <a:srgbClr val="1F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281" y="584200"/>
            <a:ext cx="330191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F6B73"/>
                </a:solidFill>
                <a:latin typeface="Aptos"/>
              </a:rPr>
              <a:t>Human Sensing Lab</a:t>
            </a:r>
          </a:p>
          <a:p>
            <a:pPr algn="l"/>
            <a:r>
              <a:rPr sz="2200" b="0">
                <a:solidFill>
                  <a:srgbClr val="5F6B73"/>
                </a:solidFill>
                <a:latin typeface="Aptos"/>
              </a:rPr>
              <a:t>Technical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581" y="1333500"/>
            <a:ext cx="4127396" cy="165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400" b="1">
                <a:solidFill>
                  <a:srgbClr val="111827"/>
                </a:solidFill>
                <a:latin typeface="Aptos Display"/>
              </a:rPr>
              <a:t>Composing</a:t>
            </a:r>
          </a:p>
          <a:p>
            <a:pPr algn="l">
              <a:lnSpc>
                <a:spcPct val="85000"/>
              </a:lnSpc>
            </a:pPr>
            <a:r>
              <a:rPr sz="7400" b="1">
                <a:solidFill>
                  <a:srgbClr val="111827"/>
                </a:solidFill>
                <a:latin typeface="Aptos Display"/>
              </a:rPr>
              <a:t>3DGS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680" y="3263900"/>
            <a:ext cx="4190895" cy="76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5F6B73"/>
                </a:solidFill>
                <a:latin typeface="Aptos"/>
              </a:rPr>
              <a:t>A reproducible baseline for inserting a separately trained foreground object into the Mip-NeRF 360 Bicycle scene.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380" y="5067300"/>
            <a:ext cx="292092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766F"/>
                </a:solidFill>
                <a:latin typeface="Aptos"/>
              </a:rPr>
              <a:t>Bicycle scene + synthetic chair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380" y="5422900"/>
            <a:ext cx="152396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F6B73"/>
                </a:solidFill>
                <a:latin typeface="Aptos"/>
              </a:rPr>
              <a:t>June 2026</a:t>
            </a:r>
          </a:p>
        </p:txBody>
      </p:sp>
      <p:sp>
        <p:nvSpPr>
          <p:cNvPr id="9" name="Oval 8"/>
          <p:cNvSpPr/>
          <p:nvPr/>
        </p:nvSpPr>
        <p:spPr>
          <a:xfrm>
            <a:off x="6603834" y="1831974"/>
            <a:ext cx="184145" cy="184150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48343" y="1555750"/>
            <a:ext cx="147316" cy="147319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38889" y="1776730"/>
            <a:ext cx="202559" cy="20256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37361" y="1583372"/>
            <a:ext cx="119694" cy="119697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27906" y="1942465"/>
            <a:ext cx="165730" cy="16573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0342" y="1703069"/>
            <a:ext cx="239389" cy="239394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70888" y="1887220"/>
            <a:ext cx="138109" cy="138112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53711" y="2642235"/>
            <a:ext cx="239389" cy="239394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62670" y="2402839"/>
            <a:ext cx="165730" cy="16573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7179" y="2798762"/>
            <a:ext cx="202559" cy="20256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1688" y="2522537"/>
            <a:ext cx="128901" cy="12890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42233" y="2752725"/>
            <a:ext cx="193352" cy="193357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6742" y="2458085"/>
            <a:ext cx="156523" cy="156527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02307" y="3535362"/>
            <a:ext cx="165730" cy="16573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92852" y="3857625"/>
            <a:ext cx="239389" cy="239394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67543" y="3581400"/>
            <a:ext cx="147316" cy="147319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58088" y="3949700"/>
            <a:ext cx="211767" cy="211772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0706" y="3673474"/>
            <a:ext cx="165730" cy="16573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24561" y="4732337"/>
            <a:ext cx="202559" cy="202565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37361" y="4870450"/>
            <a:ext cx="147316" cy="147319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96197" y="4686300"/>
            <a:ext cx="220974" cy="220980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21506" y="2982912"/>
            <a:ext cx="294632" cy="294639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5834" y="2890837"/>
            <a:ext cx="202559" cy="202565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4124" y="3167062"/>
            <a:ext cx="257803" cy="257810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05652" y="3443287"/>
            <a:ext cx="220974" cy="220980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19979" y="3627437"/>
            <a:ext cx="313047" cy="313055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80342" y="3489325"/>
            <a:ext cx="184145" cy="184150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71383" y="4060189"/>
            <a:ext cx="165730" cy="165735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96197" y="4179887"/>
            <a:ext cx="211767" cy="211772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0831" y="5207000"/>
            <a:ext cx="3301917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one merged point_cloud.ply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0831" y="5486400"/>
            <a:ext cx="361940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F6B73"/>
                </a:solidFill>
                <a:latin typeface="Aptos"/>
              </a:rPr>
              <a:t>Render together to preserve splat depth and alpha ordering.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482" y="520700"/>
            <a:ext cx="5079873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11827"/>
                </a:solidFill>
                <a:latin typeface="Aptos Display"/>
              </a:rPr>
              <a:t>Composition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182" y="952500"/>
            <a:ext cx="6349841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F6B73"/>
                </a:solidFill>
                <a:latin typeface="Aptos"/>
              </a:rPr>
              <a:t>The foreground asset is transformed in 3DGS parameter space, then rasterized with the scene in one pass.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42971" y="2349500"/>
            <a:ext cx="9270768" cy="0"/>
          </a:xfrm>
          <a:prstGeom prst="line">
            <a:avLst/>
          </a:prstGeom>
          <a:ln w="38100">
            <a:solidFill>
              <a:srgbClr val="C8C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587460" y="1854200"/>
            <a:ext cx="952476" cy="952500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064" y="2171700"/>
            <a:ext cx="1333466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85" y="3301999"/>
            <a:ext cx="2603434" cy="622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Bicycle and chair</a:t>
            </a:r>
          </a:p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as separate 3DGS models</a:t>
            </a:r>
          </a:p>
        </p:txBody>
      </p:sp>
      <p:sp>
        <p:nvSpPr>
          <p:cNvPr id="9" name="Oval 8"/>
          <p:cNvSpPr/>
          <p:nvPr/>
        </p:nvSpPr>
        <p:spPr>
          <a:xfrm>
            <a:off x="5016374" y="1854200"/>
            <a:ext cx="952476" cy="95250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3978" y="2171700"/>
            <a:ext cx="1333466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399" y="3301999"/>
            <a:ext cx="2603434" cy="622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p_scene = s R p_object + t</a:t>
            </a:r>
          </a:p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log-scale and quaternion updates</a:t>
            </a:r>
          </a:p>
        </p:txBody>
      </p:sp>
      <p:sp>
        <p:nvSpPr>
          <p:cNvPr id="12" name="Oval 11"/>
          <p:cNvSpPr/>
          <p:nvPr/>
        </p:nvSpPr>
        <p:spPr>
          <a:xfrm>
            <a:off x="8445288" y="1854200"/>
            <a:ext cx="952476" cy="952500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2892" y="2171700"/>
            <a:ext cx="1333466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314" y="3301999"/>
            <a:ext cx="2603434" cy="622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write one point_cloud.ply</a:t>
            </a:r>
          </a:p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render with Bicycle cameras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482" y="4794250"/>
            <a:ext cx="2603434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766F"/>
                </a:solidFill>
                <a:latin typeface="Aptos"/>
              </a:rPr>
              <a:t>3DGS-specific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482" y="5156200"/>
            <a:ext cx="4825879" cy="920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ptos"/>
              </a:rPr>
              <a:t>scale_* += log(s)</a:t>
            </a:r>
          </a:p>
          <a:p>
            <a:pPr algn="l"/>
            <a:r>
              <a:rPr sz="2400" b="0">
                <a:solidFill>
                  <a:srgbClr val="111827"/>
                </a:solidFill>
                <a:latin typeface="Aptos"/>
              </a:rPr>
              <a:t>rot_* = q_place * q_asset</a:t>
            </a:r>
          </a:p>
          <a:p>
            <a:pPr algn="l"/>
            <a:r>
              <a:rPr sz="2400" b="0">
                <a:solidFill>
                  <a:srgbClr val="111827"/>
                </a:solidFill>
                <a:latin typeface="Aptos"/>
              </a:rPr>
              <a:t>opacity edited in sigmoid alpha space</a:t>
            </a:r>
          </a:p>
          <a:p>
            <a:pPr algn="l"/>
            <a:r>
              <a:rPr sz="2400" b="0">
                <a:solidFill>
                  <a:srgbClr val="111827"/>
                </a:solidFill>
                <a:latin typeface="Aptos"/>
              </a:rPr>
              <a:t>f_dc_* and f_rest_* support simple color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3339" y="4794250"/>
            <a:ext cx="273043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D7613D"/>
                </a:solidFill>
                <a:latin typeface="Aptos"/>
              </a:rPr>
              <a:t>Why this reduces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3339" y="5156200"/>
            <a:ext cx="4571885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ptos"/>
              </a:rPr>
              <a:t>No 2D paste step: scene and object Gaussians are depth-sorted and alpha-composited by the same rasterizer.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482" y="520700"/>
            <a:ext cx="539736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11827"/>
                </a:solidFill>
                <a:latin typeface="Aptos Display"/>
              </a:rPr>
              <a:t>Result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182" y="952500"/>
            <a:ext cx="8000799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F6B73"/>
                </a:solidFill>
                <a:latin typeface="Aptos"/>
              </a:rPr>
              <a:t>The output is not a 2D paste. It is one merged 3DGS point cloud rendered through the Bicycle cameras.</a:t>
            </a:r>
          </a:p>
        </p:txBody>
      </p:sp>
      <p:pic>
        <p:nvPicPr>
          <p:cNvPr id="5" name="Picture 4" descr="hsl_final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82" y="1592123"/>
            <a:ext cx="5714857" cy="3800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8482" y="1587500"/>
            <a:ext cx="5714857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8482" y="5537200"/>
            <a:ext cx="2349441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766F"/>
                </a:solidFill>
                <a:latin typeface="Aptos"/>
              </a:rPr>
              <a:t>final composed render</a:t>
            </a:r>
          </a:p>
        </p:txBody>
      </p:sp>
      <p:sp>
        <p:nvSpPr>
          <p:cNvPr id="8" name="Oval 7"/>
          <p:cNvSpPr/>
          <p:nvPr/>
        </p:nvSpPr>
        <p:spPr>
          <a:xfrm>
            <a:off x="6807029" y="1676400"/>
            <a:ext cx="292092" cy="292100"/>
          </a:xfrm>
          <a:prstGeom prst="ellipse">
            <a:avLst/>
          </a:prstGeom>
          <a:solidFill>
            <a:srgbClr val="1F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4218" y="1612900"/>
            <a:ext cx="292092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111827"/>
                </a:solidFill>
                <a:latin typeface="Aptos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4218" y="1943100"/>
            <a:ext cx="3936901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Separate Bicycle and Chair 3DGS models</a:t>
            </a:r>
          </a:p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merged into one splat point cloud.</a:t>
            </a:r>
          </a:p>
        </p:txBody>
      </p:sp>
      <p:sp>
        <p:nvSpPr>
          <p:cNvPr id="11" name="Oval 10"/>
          <p:cNvSpPr/>
          <p:nvPr/>
        </p:nvSpPr>
        <p:spPr>
          <a:xfrm>
            <a:off x="6807029" y="2705099"/>
            <a:ext cx="292092" cy="292100"/>
          </a:xfrm>
          <a:prstGeom prst="ellipse">
            <a:avLst/>
          </a:prstGeom>
          <a:solidFill>
            <a:srgbClr val="365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4218" y="2641600"/>
            <a:ext cx="292092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111827"/>
                </a:solidFill>
                <a:latin typeface="Aptos"/>
              </a:rPr>
              <a:t>Scale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4218" y="2971800"/>
            <a:ext cx="3936901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Cross-dataset scale is ambiguous;</a:t>
            </a:r>
          </a:p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bounds and visual anchors define s, R, t.</a:t>
            </a:r>
          </a:p>
        </p:txBody>
      </p:sp>
      <p:sp>
        <p:nvSpPr>
          <p:cNvPr id="14" name="Oval 13"/>
          <p:cNvSpPr/>
          <p:nvPr/>
        </p:nvSpPr>
        <p:spPr>
          <a:xfrm>
            <a:off x="6807029" y="3733799"/>
            <a:ext cx="292092" cy="292100"/>
          </a:xfrm>
          <a:prstGeom prst="ellipse">
            <a:avLst/>
          </a:prstGeom>
          <a:solidFill>
            <a:srgbClr val="D76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4218" y="3670300"/>
            <a:ext cx="292092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111827"/>
                </a:solidFill>
                <a:latin typeface="Aptos"/>
              </a:rPr>
              <a:t>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4218" y="4000500"/>
            <a:ext cx="3936901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One rasterizer pass gives depth sorting;</a:t>
            </a:r>
          </a:p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floaters and soft splats remain visible.</a:t>
            </a:r>
          </a:p>
        </p:txBody>
      </p:sp>
      <p:sp>
        <p:nvSpPr>
          <p:cNvPr id="17" name="Oval 16"/>
          <p:cNvSpPr/>
          <p:nvPr/>
        </p:nvSpPr>
        <p:spPr>
          <a:xfrm>
            <a:off x="6807029" y="4762500"/>
            <a:ext cx="292092" cy="29210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4218" y="4699000"/>
            <a:ext cx="292092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111827"/>
                </a:solidFill>
                <a:latin typeface="Aptos"/>
              </a:rPr>
              <a:t>Extension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4218" y="5029200"/>
            <a:ext cx="3936901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Optimize asset-only SH/exposure</a:t>
            </a:r>
          </a:p>
          <a:p>
            <a:pPr algn="l"/>
            <a:r>
              <a:rPr sz="2300" b="0">
                <a:solidFill>
                  <a:srgbClr val="5F6B73"/>
                </a:solidFill>
                <a:latin typeface="Aptos"/>
              </a:rPr>
              <a:t>while keeping geometry fixed.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482" y="6095999"/>
            <a:ext cx="9270768" cy="21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F6B73"/>
                </a:solidFill>
                <a:latin typeface="Aptos"/>
              </a:rPr>
              <a:t>Submission assets: code, process notes, Kaggle/Colab runners, final render, and this 3-slide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