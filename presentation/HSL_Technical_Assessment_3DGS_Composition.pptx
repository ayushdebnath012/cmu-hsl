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5894" cy="6858000"/>
          </a:xfrm>
          <a:prstGeom prst="rect">
            <a:avLst/>
          </a:prstGeom>
          <a:solidFill>
            <a:srgbClr val="1F76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281" y="584200"/>
            <a:ext cx="3301917" cy="50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0">
                <a:solidFill>
                  <a:srgbClr val="5F6B73"/>
                </a:solidFill>
                <a:latin typeface="Aptos"/>
              </a:rPr>
              <a:t>Human Sensing Lab</a:t>
            </a:r>
          </a:p>
          <a:p>
            <a:pPr algn="l"/>
            <a:r>
              <a:rPr sz="2200" b="0">
                <a:solidFill>
                  <a:srgbClr val="5F6B73"/>
                </a:solidFill>
                <a:latin typeface="Aptos"/>
              </a:rPr>
              <a:t>Technical Assessment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581" y="1206500"/>
            <a:ext cx="4571885" cy="146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85000"/>
              </a:lnSpc>
            </a:pPr>
            <a:r>
              <a:rPr sz="6600" b="1">
                <a:solidFill>
                  <a:srgbClr val="111827"/>
                </a:solidFill>
                <a:latin typeface="Aptos Display"/>
              </a:rPr>
              <a:t>Composing</a:t>
            </a:r>
          </a:p>
          <a:p>
            <a:pPr algn="l">
              <a:lnSpc>
                <a:spcPct val="85000"/>
              </a:lnSpc>
            </a:pPr>
            <a:r>
              <a:rPr sz="6600" b="1">
                <a:solidFill>
                  <a:srgbClr val="111827"/>
                </a:solidFill>
                <a:latin typeface="Aptos Display"/>
              </a:rPr>
              <a:t>3DGS Assets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4680" y="2984500"/>
            <a:ext cx="4444888" cy="698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0">
                <a:solidFill>
                  <a:srgbClr val="5F6B73"/>
                </a:solidFill>
                <a:latin typeface="Aptos"/>
              </a:rPr>
              <a:t>Separately train Bicycle and a synthetic chair, then merge the foreground Gaussians into the scene.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7380" y="4699000"/>
            <a:ext cx="3301917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1F766F"/>
                </a:solidFill>
                <a:latin typeface="Aptos"/>
              </a:rPr>
              <a:t>Bicycle scene + synthetic chair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7380" y="5016500"/>
            <a:ext cx="1523961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0">
                <a:solidFill>
                  <a:srgbClr val="5F6B73"/>
                </a:solidFill>
                <a:latin typeface="Aptos"/>
              </a:rPr>
              <a:t>June 2026</a:t>
            </a:r>
          </a:p>
        </p:txBody>
      </p:sp>
      <p:pic>
        <p:nvPicPr>
          <p:cNvPr id="9" name="Picture 8" descr="hsl_final_resul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07206" y="1016000"/>
            <a:ext cx="5012666" cy="333375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905352" y="1016000"/>
            <a:ext cx="5016374" cy="3333750"/>
          </a:xfrm>
          <a:prstGeom prst="rect">
            <a:avLst/>
          </a:prstGeom>
          <a:solidFill>
            <a:srgbClr val="FFFFFF"/>
          </a:solidFill>
          <a:ln w="12700">
            <a:solidFill>
              <a:srgbClr val="C8C2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05352" y="4508500"/>
            <a:ext cx="2476438" cy="2158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900" b="1">
                <a:solidFill>
                  <a:srgbClr val="1F766F"/>
                </a:solidFill>
                <a:latin typeface="Aptos"/>
              </a:rPr>
              <a:t>final composed render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05352" y="5016500"/>
            <a:ext cx="3936901" cy="279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>
                <a:solidFill>
                  <a:srgbClr val="111827"/>
                </a:solidFill>
                <a:latin typeface="Aptos"/>
              </a:rPr>
              <a:t>one merged point_cloud.ply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05352" y="5334000"/>
            <a:ext cx="4444888" cy="44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0">
                <a:solidFill>
                  <a:srgbClr val="5F6B73"/>
                </a:solidFill>
                <a:latin typeface="Aptos"/>
              </a:rPr>
              <a:t>Rendered with Bicycle cameras for shared depth and alpha ordering.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98482" y="520700"/>
            <a:ext cx="5714857" cy="4952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800" b="1">
                <a:solidFill>
                  <a:srgbClr val="111827"/>
                </a:solidFill>
                <a:latin typeface="Aptos Display"/>
              </a:rPr>
              <a:t>Composition Method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182" y="952500"/>
            <a:ext cx="7492812" cy="355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0">
                <a:solidFill>
                  <a:srgbClr val="5F6B73"/>
                </a:solidFill>
                <a:latin typeface="Aptos"/>
              </a:rPr>
              <a:t>The foreground asset is transformed in 3DGS parameter space, then merged before rendering.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87460" y="1778000"/>
            <a:ext cx="6603834" cy="50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4500" b="1">
                <a:solidFill>
                  <a:srgbClr val="111827"/>
                </a:solidFill>
                <a:latin typeface="Aptos"/>
              </a:rPr>
              <a:t>p_scene = s R p_asset + t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904952" y="2508250"/>
            <a:ext cx="7746806" cy="0"/>
          </a:xfrm>
          <a:prstGeom prst="line">
            <a:avLst/>
          </a:prstGeom>
          <a:ln w="38100">
            <a:solidFill>
              <a:srgbClr val="C8C2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587460" y="2984500"/>
            <a:ext cx="482587" cy="482600"/>
          </a:xfrm>
          <a:prstGeom prst="ellipse">
            <a:avLst/>
          </a:prstGeom>
          <a:solidFill>
            <a:srgbClr val="365E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6733" y="3651250"/>
            <a:ext cx="2349441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900" b="1">
                <a:solidFill>
                  <a:srgbClr val="111827"/>
                </a:solidFill>
                <a:latin typeface="Aptos"/>
              </a:rPr>
              <a:t>Train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0990" y="4032249"/>
            <a:ext cx="2984425" cy="635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200" b="0">
                <a:solidFill>
                  <a:srgbClr val="5F6B73"/>
                </a:solidFill>
                <a:latin typeface="Aptos"/>
              </a:rPr>
              <a:t>Bicycle scene and chair asset as separate 3DGS models.</a:t>
            </a:r>
          </a:p>
        </p:txBody>
      </p:sp>
      <p:sp>
        <p:nvSpPr>
          <p:cNvPr id="10" name="Oval 9"/>
          <p:cNvSpPr/>
          <p:nvPr/>
        </p:nvSpPr>
        <p:spPr>
          <a:xfrm>
            <a:off x="5016374" y="2984500"/>
            <a:ext cx="482587" cy="482600"/>
          </a:xfrm>
          <a:prstGeom prst="ellipse">
            <a:avLst/>
          </a:prstGeom>
          <a:solidFill>
            <a:srgbClr val="D9A4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95647" y="3651250"/>
            <a:ext cx="2349441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900" b="1">
                <a:solidFill>
                  <a:srgbClr val="111827"/>
                </a:solidFill>
                <a:latin typeface="Aptos"/>
              </a:rPr>
              <a:t>Transform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9904" y="4032249"/>
            <a:ext cx="2984425" cy="635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200" b="0">
                <a:solidFill>
                  <a:srgbClr val="5F6B73"/>
                </a:solidFill>
                <a:latin typeface="Aptos"/>
              </a:rPr>
              <a:t>Apply scale, rotation, and translation to every foreground Gaussian.</a:t>
            </a:r>
          </a:p>
        </p:txBody>
      </p:sp>
      <p:sp>
        <p:nvSpPr>
          <p:cNvPr id="13" name="Oval 12"/>
          <p:cNvSpPr/>
          <p:nvPr/>
        </p:nvSpPr>
        <p:spPr>
          <a:xfrm>
            <a:off x="8445288" y="2984500"/>
            <a:ext cx="482587" cy="482600"/>
          </a:xfrm>
          <a:prstGeom prst="ellipse">
            <a:avLst/>
          </a:prstGeom>
          <a:solidFill>
            <a:srgbClr val="D761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24561" y="3651250"/>
            <a:ext cx="2349441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900" b="1">
                <a:solidFill>
                  <a:srgbClr val="111827"/>
                </a:solidFill>
                <a:latin typeface="Aptos"/>
              </a:rPr>
              <a:t>Merge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38819" y="4032249"/>
            <a:ext cx="2984425" cy="635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200" b="0">
                <a:solidFill>
                  <a:srgbClr val="5F6B73"/>
                </a:solidFill>
                <a:latin typeface="Aptos"/>
              </a:rPr>
              <a:t>Write one composed point_cloud.ply and render with Bicycle cameras.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5974" y="5207000"/>
            <a:ext cx="2984425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F766F"/>
                </a:solidFill>
                <a:latin typeface="Aptos"/>
              </a:rPr>
              <a:t>Gaussian updates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5974" y="5556250"/>
            <a:ext cx="4127396" cy="698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0">
                <a:solidFill>
                  <a:srgbClr val="111827"/>
                </a:solidFill>
                <a:latin typeface="Aptos"/>
              </a:rPr>
              <a:t>center: similarity transform</a:t>
            </a:r>
          </a:p>
          <a:p>
            <a:pPr algn="l"/>
            <a:r>
              <a:rPr sz="2100" b="0">
                <a:solidFill>
                  <a:srgbClr val="111827"/>
                </a:solidFill>
                <a:latin typeface="Aptos"/>
              </a:rPr>
              <a:t>scale: add log(s)</a:t>
            </a:r>
          </a:p>
          <a:p>
            <a:pPr algn="l"/>
            <a:r>
              <a:rPr sz="2100" b="0">
                <a:solidFill>
                  <a:srgbClr val="111827"/>
                </a:solidFill>
                <a:latin typeface="Aptos"/>
              </a:rPr>
              <a:t>rotation: q_place times q_asset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40336" y="5207000"/>
            <a:ext cx="2730431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D7613D"/>
                </a:solidFill>
                <a:latin typeface="Aptos"/>
              </a:rPr>
              <a:t>Why this helps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40336" y="5556250"/>
            <a:ext cx="4381390" cy="603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0">
                <a:solidFill>
                  <a:srgbClr val="111827"/>
                </a:solidFill>
                <a:latin typeface="Aptos"/>
              </a:rPr>
              <a:t>Scene and asset splats are depth-sorted together, avoiding a separate 2D paste step.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98482" y="520700"/>
            <a:ext cx="5397365" cy="4952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800" b="1">
                <a:solidFill>
                  <a:srgbClr val="111827"/>
                </a:solidFill>
                <a:latin typeface="Aptos Display"/>
              </a:rPr>
              <a:t>Result &amp; Defense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182" y="952500"/>
            <a:ext cx="8000799" cy="355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0">
                <a:solidFill>
                  <a:srgbClr val="5F6B73"/>
                </a:solidFill>
                <a:latin typeface="Aptos"/>
              </a:rPr>
              <a:t>The output is not a 2D paste. It is one merged 3DGS point cloud rendered through the Bicycle cameras.</a:t>
            </a:r>
          </a:p>
        </p:txBody>
      </p:sp>
      <p:pic>
        <p:nvPicPr>
          <p:cNvPr id="5" name="Picture 4" descr="hsl_final_resul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5399" y="1650999"/>
            <a:ext cx="5681022" cy="377825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98482" y="1650999"/>
            <a:ext cx="5714857" cy="3778250"/>
          </a:xfrm>
          <a:prstGeom prst="rect">
            <a:avLst/>
          </a:prstGeom>
          <a:solidFill>
            <a:srgbClr val="FFFFFF"/>
          </a:solidFill>
          <a:ln w="12700">
            <a:solidFill>
              <a:srgbClr val="C8C2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98482" y="5575300"/>
            <a:ext cx="2349441" cy="2413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900" b="1">
                <a:solidFill>
                  <a:srgbClr val="1F766F"/>
                </a:solidFill>
                <a:latin typeface="Aptos"/>
              </a:rPr>
              <a:t>final composed render</a:t>
            </a:r>
          </a:p>
        </p:txBody>
      </p:sp>
      <p:sp>
        <p:nvSpPr>
          <p:cNvPr id="8" name="Oval 7"/>
          <p:cNvSpPr/>
          <p:nvPr/>
        </p:nvSpPr>
        <p:spPr>
          <a:xfrm>
            <a:off x="6807029" y="1752599"/>
            <a:ext cx="292092" cy="292100"/>
          </a:xfrm>
          <a:prstGeom prst="ellipse">
            <a:avLst/>
          </a:prstGeom>
          <a:solidFill>
            <a:srgbClr val="1F76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264218" y="1689100"/>
            <a:ext cx="317492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>
                <a:solidFill>
                  <a:srgbClr val="111827"/>
                </a:solidFill>
                <a:latin typeface="Aptos"/>
              </a:rPr>
              <a:t>Result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64218" y="2032000"/>
            <a:ext cx="3936901" cy="66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0">
                <a:solidFill>
                  <a:srgbClr val="5F6B73"/>
                </a:solidFill>
                <a:latin typeface="Aptos"/>
              </a:rPr>
              <a:t>Separate Bicycle and Chair 3DGS models</a:t>
            </a:r>
          </a:p>
          <a:p>
            <a:pPr algn="l"/>
            <a:r>
              <a:rPr sz="2100" b="0">
                <a:solidFill>
                  <a:srgbClr val="5F6B73"/>
                </a:solidFill>
                <a:latin typeface="Aptos"/>
              </a:rPr>
              <a:t>merged into one splat point cloud.</a:t>
            </a:r>
          </a:p>
        </p:txBody>
      </p:sp>
      <p:sp>
        <p:nvSpPr>
          <p:cNvPr id="11" name="Oval 10"/>
          <p:cNvSpPr/>
          <p:nvPr/>
        </p:nvSpPr>
        <p:spPr>
          <a:xfrm>
            <a:off x="6807029" y="2863850"/>
            <a:ext cx="292092" cy="292100"/>
          </a:xfrm>
          <a:prstGeom prst="ellipse">
            <a:avLst/>
          </a:prstGeom>
          <a:solidFill>
            <a:srgbClr val="365E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64218" y="2800350"/>
            <a:ext cx="317492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>
                <a:solidFill>
                  <a:srgbClr val="111827"/>
                </a:solidFill>
                <a:latin typeface="Aptos"/>
              </a:rPr>
              <a:t>Scale reasoning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64218" y="3143250"/>
            <a:ext cx="3936901" cy="66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0">
                <a:solidFill>
                  <a:srgbClr val="5F6B73"/>
                </a:solidFill>
                <a:latin typeface="Aptos"/>
              </a:rPr>
              <a:t>Cross-dataset scale is ambiguous;</a:t>
            </a:r>
          </a:p>
          <a:p>
            <a:pPr algn="l"/>
            <a:r>
              <a:rPr sz="2100" b="0">
                <a:solidFill>
                  <a:srgbClr val="5F6B73"/>
                </a:solidFill>
                <a:latin typeface="Aptos"/>
              </a:rPr>
              <a:t>bounds and visual anchors define s, R, t.</a:t>
            </a:r>
          </a:p>
        </p:txBody>
      </p:sp>
      <p:sp>
        <p:nvSpPr>
          <p:cNvPr id="14" name="Oval 13"/>
          <p:cNvSpPr/>
          <p:nvPr/>
        </p:nvSpPr>
        <p:spPr>
          <a:xfrm>
            <a:off x="6807029" y="3975100"/>
            <a:ext cx="292092" cy="292100"/>
          </a:xfrm>
          <a:prstGeom prst="ellipse">
            <a:avLst/>
          </a:prstGeom>
          <a:solidFill>
            <a:srgbClr val="D761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264218" y="3911600"/>
            <a:ext cx="317492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>
                <a:solidFill>
                  <a:srgbClr val="111827"/>
                </a:solidFill>
                <a:latin typeface="Aptos"/>
              </a:rPr>
              <a:t>Conflicts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64218" y="4254500"/>
            <a:ext cx="3936901" cy="66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0">
                <a:solidFill>
                  <a:srgbClr val="5F6B73"/>
                </a:solidFill>
                <a:latin typeface="Aptos"/>
              </a:rPr>
              <a:t>One rasterizer pass gives depth sorting;</a:t>
            </a:r>
          </a:p>
          <a:p>
            <a:pPr algn="l"/>
            <a:r>
              <a:rPr sz="2100" b="0">
                <a:solidFill>
                  <a:srgbClr val="5F6B73"/>
                </a:solidFill>
                <a:latin typeface="Aptos"/>
              </a:rPr>
              <a:t>floaters and soft splats remain visible.</a:t>
            </a:r>
          </a:p>
        </p:txBody>
      </p:sp>
      <p:sp>
        <p:nvSpPr>
          <p:cNvPr id="17" name="Oval 16"/>
          <p:cNvSpPr/>
          <p:nvPr/>
        </p:nvSpPr>
        <p:spPr>
          <a:xfrm>
            <a:off x="6807029" y="5086350"/>
            <a:ext cx="292092" cy="292100"/>
          </a:xfrm>
          <a:prstGeom prst="ellipse">
            <a:avLst/>
          </a:prstGeom>
          <a:solidFill>
            <a:srgbClr val="D9A4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64218" y="5022850"/>
            <a:ext cx="317492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>
                <a:solidFill>
                  <a:srgbClr val="111827"/>
                </a:solidFill>
                <a:latin typeface="Aptos"/>
              </a:rPr>
              <a:t>Extension idea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64218" y="5365750"/>
            <a:ext cx="3936901" cy="66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0">
                <a:solidFill>
                  <a:srgbClr val="5F6B73"/>
                </a:solidFill>
                <a:latin typeface="Aptos"/>
              </a:rPr>
              <a:t>Optimize asset-only SH/exposure</a:t>
            </a:r>
          </a:p>
          <a:p>
            <a:pPr algn="l"/>
            <a:r>
              <a:rPr sz="2100" b="0">
                <a:solidFill>
                  <a:srgbClr val="5F6B73"/>
                </a:solidFill>
                <a:latin typeface="Aptos"/>
              </a:rPr>
              <a:t>while keeping geometry fixed.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8482" y="6095999"/>
            <a:ext cx="9270768" cy="2158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0">
                <a:solidFill>
                  <a:srgbClr val="5F6B73"/>
                </a:solidFill>
                <a:latin typeface="Aptos"/>
              </a:rPr>
              <a:t>Submission assets: code, process notes, Kaggle/Colab runners, final render, and this 3-slide deck.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